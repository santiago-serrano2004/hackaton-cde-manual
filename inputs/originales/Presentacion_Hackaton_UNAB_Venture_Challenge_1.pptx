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62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general de la Hackatón del UNAB Venture Challenge 2026: el reto "De datos dispersos a conocimiento que innova" del Centro de Desarrollo Empresarial (28 y 29 de octubre).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clave: es un programa, no un evento aislado. La metodología Conecta–Cocrea–Despega es la que se repetirá en las siguientes ediciones.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CDE es el cliente que vive el dolor. El reto se redacta como problema; cada equipo decide cómo resolverlo. No se pide a los equipos que redefinan 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sistema debe ser integrado: toda la información del CDE conectada, sin registros aislados. Incluye un módulo de formación por recompensas con gamificación.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Equipos de 2 a 4 estudiantes activos de la UNAB, máximo 5 equipos. Los perfiles son orientadores, no cargos obligatorios.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propósito no se agota en el evento: busca que el CDE avance hacia un centro de innovación e investigación basado en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Pesos: funcionalidad 60, componente innovador y diferenciador 15, modelo de negocio y sostenibilidad 15, equipo 10. La funcionalidad considera las características de calidad ISO/IEC 25010.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Premio único para el equipo ganador: beneficio del 50% de la matrícula del siguiente semestre para cada integrante.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Hackatón es una sola competencia continua: inicia el 28 a las 8:00 a. m. y cierra el 29 con el anuncio del ganador a las 12:00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Pendiente por confirmar con la organización: disponibilidad del laboratorio en la noche del miércoles.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 y agradecimiento.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4480560" cy="3063240"/>
          </a:xfrm>
          <a:prstGeom prst="rtTriangle">
            <a:avLst/>
          </a:prstGeom>
          <a:solidFill>
            <a:srgbClr val="1626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715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Desarrollo Empresarial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</a:t>
            </a:r>
            <a:endParaRPr lang="en-US" sz="1150" dirty="0"/>
          </a:p>
        </p:txBody>
      </p:sp>
      <p:pic>
        <p:nvPicPr>
          <p:cNvPr id="5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350269"/>
            <a:ext cx="6385560" cy="38102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35680" y="3878455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900" b="1" i="1" dirty="0">
                <a:solidFill>
                  <a:srgbClr val="E94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900" b="1" i="1" dirty="0">
                <a:solidFill>
                  <a:srgbClr val="EA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i="1" dirty="0">
                <a:solidFill>
                  <a:srgbClr val="EB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900" b="1" i="1" dirty="0">
                <a:solidFill>
                  <a:srgbClr val="ED5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900" b="1" i="1" dirty="0">
                <a:solidFill>
                  <a:srgbClr val="EE6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i="1" dirty="0">
                <a:solidFill>
                  <a:srgbClr val="EF6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900" b="1" i="1" dirty="0">
                <a:solidFill>
                  <a:srgbClr val="F0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900" b="1" i="1" dirty="0">
                <a:solidFill>
                  <a:srgbClr val="F16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900" b="1" i="1" dirty="0">
                <a:solidFill>
                  <a:srgbClr val="F27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900" b="1" i="1" dirty="0">
                <a:solidFill>
                  <a:srgbClr val="F37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i="1" dirty="0">
                <a:solidFill>
                  <a:srgbClr val="F5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900" b="1" i="1" dirty="0">
                <a:solidFill>
                  <a:srgbClr val="F68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900" b="1" i="1" dirty="0">
                <a:solidFill>
                  <a:srgbClr val="F7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i="1" dirty="0">
                <a:solidFill>
                  <a:srgbClr val="F8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900" b="1" i="1" dirty="0">
                <a:solidFill>
                  <a:srgbClr val="F99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900" b="1" i="1" dirty="0">
                <a:solidFill>
                  <a:srgbClr val="FAA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1900" b="1" i="1" dirty="0">
                <a:solidFill>
                  <a:srgbClr val="FBA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900" b="1" i="1" dirty="0">
                <a:solidFill>
                  <a:srgbClr val="FCB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900" b="1" i="1" dirty="0">
                <a:solidFill>
                  <a:srgbClr val="FDB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900" b="1" i="1" dirty="0">
                <a:solidFill>
                  <a:srgbClr val="FEC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900" b="1" i="1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903220" y="43942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Hackatón · Semana de Ingeniería UNAB 2026</a:t>
            </a:r>
            <a:r>
              <a:rPr lang="en-US" sz="2300" b="1" dirty="0">
                <a:solidFill>
                  <a:srgbClr val="E94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94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A4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A5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B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B5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C5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C5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D5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E6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E6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F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EF6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06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06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16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17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27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37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37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47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47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58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58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68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68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79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7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89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89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99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9A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AA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AA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BA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B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CB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CB9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DB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DC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EC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EC8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2300" b="1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2484120" y="4937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"De datos dispersos a conocimiento que innova"</a:t>
            </a:r>
            <a:endParaRPr lang="en-US" sz="145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Categoría: UNAB Venture Challenge · Centro de Desarrollo Empresarial (CDE)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709160" y="5760720"/>
            <a:ext cx="6766560" cy="548640"/>
          </a:xfrm>
          <a:prstGeom prst="roundRect">
            <a:avLst>
              <a:gd name="adj" fmla="val 50000"/>
            </a:avLst>
          </a:prstGeom>
          <a:solidFill>
            <a:srgbClr val="1626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4709160" y="57607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y 29 de octubre de 2026  ·  Laboratorio de Ingeniería Industrial, UNAB  ·  Presencial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069848" cy="32004"/>
          </a:xfrm>
          <a:prstGeom prst="rect">
            <a:avLst/>
          </a:prstGeom>
          <a:solidFill>
            <a:srgbClr val="EC571F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51560" y="6547104"/>
            <a:ext cx="1069848" cy="32004"/>
          </a:xfrm>
          <a:prstGeom prst="rect">
            <a:avLst/>
          </a:prstGeom>
          <a:solidFill>
            <a:srgbClr val="EE611F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103120" y="6547104"/>
            <a:ext cx="1069848" cy="32004"/>
          </a:xfrm>
          <a:prstGeom prst="rect">
            <a:avLst/>
          </a:prstGeom>
          <a:solidFill>
            <a:srgbClr val="F06B20">
              <a:alpha val="5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154680" y="6547104"/>
            <a:ext cx="1069848" cy="32004"/>
          </a:xfrm>
          <a:prstGeom prst="rect">
            <a:avLst/>
          </a:prstGeom>
          <a:solidFill>
            <a:srgbClr val="F27420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206240" y="6547104"/>
            <a:ext cx="1069848" cy="32004"/>
          </a:xfrm>
          <a:prstGeom prst="rect">
            <a:avLst/>
          </a:prstGeom>
          <a:solidFill>
            <a:srgbClr val="F58023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257800" y="6547104"/>
            <a:ext cx="1069848" cy="32004"/>
          </a:xfrm>
          <a:prstGeom prst="rect">
            <a:avLst/>
          </a:prstGeom>
          <a:solidFill>
            <a:srgbClr val="F78F2B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309360" y="6547104"/>
            <a:ext cx="1069848" cy="32004"/>
          </a:xfrm>
          <a:prstGeom prst="rect">
            <a:avLst/>
          </a:prstGeom>
          <a:solidFill>
            <a:srgbClr val="F99E34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360920" y="6547104"/>
            <a:ext cx="1069848" cy="32004"/>
          </a:xfrm>
          <a:prstGeom prst="rect">
            <a:avLst/>
          </a:prstGeom>
          <a:solidFill>
            <a:srgbClr val="FBAD3C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412480" y="6547104"/>
            <a:ext cx="1069848" cy="32004"/>
          </a:xfrm>
          <a:prstGeom prst="rect">
            <a:avLst/>
          </a:prstGeom>
          <a:solidFill>
            <a:srgbClr val="FDBD45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464040" y="6547104"/>
            <a:ext cx="1069848" cy="32004"/>
          </a:xfrm>
          <a:prstGeom prst="rect">
            <a:avLst/>
          </a:prstGeom>
          <a:solidFill>
            <a:srgbClr val="FFCC4D">
              <a:alpha val="9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744200" y="6446520"/>
            <a:ext cx="374904" cy="256032"/>
          </a:xfrm>
          <a:prstGeom prst="rect">
            <a:avLst/>
          </a:prstGeom>
          <a:solidFill>
            <a:srgbClr val="F376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109960" y="6446520"/>
            <a:ext cx="374904" cy="256032"/>
          </a:xfrm>
          <a:prstGeom prst="rect">
            <a:avLst/>
          </a:prstGeom>
          <a:solidFill>
            <a:srgbClr val="F7912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475720" y="6446520"/>
            <a:ext cx="374904" cy="256032"/>
          </a:xfrm>
          <a:prstGeom prst="rect">
            <a:avLst/>
          </a:prstGeom>
          <a:solidFill>
            <a:srgbClr val="FBA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1841480" y="6446520"/>
            <a:ext cx="374904" cy="256032"/>
          </a:xfrm>
          <a:prstGeom prst="rect">
            <a:avLst/>
          </a:prstGeom>
          <a:solidFill>
            <a:srgbClr val="FFCC4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63040" cy="8729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5303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kern="0" spc="-20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</a:t>
            </a:r>
            <a:r>
              <a:rPr lang="en-US" sz="2900" b="1" kern="0" spc="-20" dirty="0">
                <a:solidFill>
                  <a:srgbClr val="E94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r>
              <a:rPr lang="en-US" sz="2900" b="1" kern="0" spc="-20" dirty="0">
                <a:solidFill>
                  <a:srgbClr val="E94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2900" b="1" kern="0" spc="-20" dirty="0">
                <a:solidFill>
                  <a:srgbClr val="EA5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</a:t>
            </a:r>
            <a:r>
              <a:rPr lang="en-US" sz="2900" b="1" kern="0" spc="-20" dirty="0">
                <a:solidFill>
                  <a:srgbClr val="EB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kern="0" spc="-20" dirty="0">
                <a:solidFill>
                  <a:srgbClr val="E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900" b="1" kern="0" spc="-20" dirty="0">
                <a:solidFill>
                  <a:srgbClr val="EC5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900" b="1" kern="0" spc="-20" dirty="0">
                <a:solidFill>
                  <a:srgbClr val="ED5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kern="0" spc="-20" dirty="0">
                <a:solidFill>
                  <a:srgbClr val="EE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900" b="1" kern="0" spc="-20" dirty="0">
                <a:solidFill>
                  <a:srgbClr val="EF6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2900" b="1" kern="0" spc="-20" dirty="0">
                <a:solidFill>
                  <a:srgbClr val="EF6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kern="0" spc="-20" dirty="0">
                <a:solidFill>
                  <a:srgbClr val="F0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2900" b="1" kern="0" spc="-20" dirty="0">
                <a:solidFill>
                  <a:srgbClr val="F16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900" b="1" kern="0" spc="-20" dirty="0">
                <a:solidFill>
                  <a:srgbClr val="F17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2900" b="1" kern="0" spc="-20" dirty="0">
                <a:solidFill>
                  <a:srgbClr val="F27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2900" b="1" kern="0" spc="-20" dirty="0">
                <a:solidFill>
                  <a:srgbClr val="F37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kern="0" spc="-20" dirty="0">
                <a:solidFill>
                  <a:srgbClr val="F47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r>
              <a:rPr lang="en-US" sz="2900" b="1" kern="0" spc="-20" dirty="0">
                <a:solidFill>
                  <a:srgbClr val="F47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900" b="1" kern="0" spc="-20" dirty="0">
                <a:solidFill>
                  <a:srgbClr val="F58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900" b="1" kern="0" spc="-20" dirty="0">
                <a:solidFill>
                  <a:srgbClr val="F687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2900" b="1" kern="0" spc="-20" dirty="0">
                <a:solidFill>
                  <a:srgbClr val="F68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2900" b="1" kern="0" spc="-20" dirty="0">
                <a:solidFill>
                  <a:srgbClr val="F79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2900" b="1" kern="0" spc="-20" dirty="0">
                <a:solidFill>
                  <a:srgbClr val="F8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900" b="1" kern="0" spc="-20" dirty="0">
                <a:solidFill>
                  <a:srgbClr val="F89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kern="0" spc="-20" dirty="0">
                <a:solidFill>
                  <a:srgbClr val="F9A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2900" b="1" kern="0" spc="-20" dirty="0">
                <a:solidFill>
                  <a:srgbClr val="FAA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r>
              <a:rPr lang="en-US" sz="2900" b="1" kern="0" spc="-20" dirty="0">
                <a:solidFill>
                  <a:srgbClr val="FAA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2900" b="1" kern="0" spc="-20" dirty="0">
                <a:solidFill>
                  <a:srgbClr val="FBA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2900" b="1" kern="0" spc="-20" dirty="0">
                <a:solidFill>
                  <a:srgbClr val="F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2900" b="1" kern="0" spc="-20" dirty="0">
                <a:solidFill>
                  <a:srgbClr val="FCB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900" b="1" kern="0" spc="-20" dirty="0">
                <a:solidFill>
                  <a:srgbClr val="FDB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900" b="1" kern="0" spc="-20" dirty="0">
                <a:solidFill>
                  <a:srgbClr val="FEC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900" b="1" kern="0" spc="-20" dirty="0">
                <a:solidFill>
                  <a:srgbClr val="FEC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900" b="1" kern="0" spc="-20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900" dirty="0"/>
          </a:p>
        </p:txBody>
      </p:sp>
      <p:sp>
        <p:nvSpPr>
          <p:cNvPr id="18" name="Text 15"/>
          <p:cNvSpPr/>
          <p:nvPr/>
        </p:nvSpPr>
        <p:spPr>
          <a:xfrm>
            <a:off x="685800" y="1481328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categoría de </a:t>
            </a:r>
            <a:r>
              <a:rPr lang="en-US" sz="1650" b="1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 e innovación abierta</a:t>
            </a:r>
            <a:r>
              <a:rPr lang="en-US" sz="16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Hackatón de la Semana de Ingeniería UNAB 2026, organizada por el CDE. Su propósito es que equipos interdisciplinarios de estudiantes </a:t>
            </a:r>
            <a:r>
              <a:rPr lang="en-US" sz="165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conviertan una idea en un producto</a:t>
            </a:r>
            <a:r>
              <a:rPr lang="en-US" sz="16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durante la Hackatón construyen una solución funcional a un </a:t>
            </a:r>
            <a:r>
              <a:rPr lang="en-US" sz="1650" b="1" dirty="0">
                <a:solidFill>
                  <a:srgbClr val="E8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real</a:t>
            </a:r>
            <a:r>
              <a:rPr lang="en-US" sz="16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y, al cierre, presentan </a:t>
            </a:r>
            <a:r>
              <a:rPr lang="en-US" sz="1650" b="1" dirty="0">
                <a:solidFill>
                  <a:srgbClr val="E84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y la estrategia para posicionarla y sostenerla.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35508" y="2496312"/>
            <a:ext cx="10817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2200" b="1" dirty="0">
                <a:solidFill>
                  <a:srgbClr val="EA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200" b="1" dirty="0">
                <a:solidFill>
                  <a:srgbClr val="ED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2200" b="1" dirty="0">
                <a:solidFill>
                  <a:srgbClr val="EF6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2200" b="1" dirty="0">
                <a:solidFill>
                  <a:srgbClr val="F27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2200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2200" b="1" dirty="0">
                <a:solidFill>
                  <a:srgbClr val="F68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2200" b="1" dirty="0">
                <a:solidFill>
                  <a:srgbClr val="F89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2200" b="1" dirty="0">
                <a:solidFill>
                  <a:srgbClr val="FBA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r>
              <a:rPr lang="en-US" sz="2200" b="1" dirty="0">
                <a:solidFill>
                  <a:srgbClr val="FDB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</a:t>
            </a:r>
            <a:r>
              <a:rPr lang="en-US" sz="2200" b="1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85800" y="320040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6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822960" y="379476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conforman equipos multidisciplinarios.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931920" y="32004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4343400" y="320040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Cocrea</a:t>
            </a:r>
            <a:endParaRPr lang="en-US" sz="2700" dirty="0"/>
          </a:p>
        </p:txBody>
      </p:sp>
      <p:sp>
        <p:nvSpPr>
          <p:cNvPr id="24" name="Text 21"/>
          <p:cNvSpPr/>
          <p:nvPr/>
        </p:nvSpPr>
        <p:spPr>
          <a:xfrm>
            <a:off x="4480560" y="379476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cocrea la solución.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589520" y="32004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BB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8001000" y="3200400"/>
            <a:ext cx="3401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6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Despega</a:t>
            </a:r>
            <a:endParaRPr lang="en-US" sz="2700" dirty="0"/>
          </a:p>
        </p:txBody>
      </p:sp>
      <p:sp>
        <p:nvSpPr>
          <p:cNvPr id="27" name="Text 24"/>
          <p:cNvSpPr/>
          <p:nvPr/>
        </p:nvSpPr>
        <p:spPr>
          <a:xfrm>
            <a:off x="8138160" y="3794760"/>
            <a:ext cx="3127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 el resultado en un pitch final.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85800" y="5138928"/>
            <a:ext cx="10817352" cy="868680"/>
          </a:xfrm>
          <a:prstGeom prst="roundRect">
            <a:avLst>
              <a:gd name="adj" fmla="val 8421"/>
            </a:avLst>
          </a:prstGeom>
          <a:solidFill>
            <a:srgbClr val="FFF7D6"/>
          </a:solidFill>
          <a:ln w="12700">
            <a:solidFill>
              <a:srgbClr val="FFF7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1051560" y="5138928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inscripción de un equipo implica el conocimiento y la aceptación íntegra de los términos y condiciones.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069848" cy="32004"/>
          </a:xfrm>
          <a:prstGeom prst="rect">
            <a:avLst/>
          </a:prstGeom>
          <a:solidFill>
            <a:srgbClr val="EC571F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51560" y="6547104"/>
            <a:ext cx="1069848" cy="32004"/>
          </a:xfrm>
          <a:prstGeom prst="rect">
            <a:avLst/>
          </a:prstGeom>
          <a:solidFill>
            <a:srgbClr val="EE611F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103120" y="6547104"/>
            <a:ext cx="1069848" cy="32004"/>
          </a:xfrm>
          <a:prstGeom prst="rect">
            <a:avLst/>
          </a:prstGeom>
          <a:solidFill>
            <a:srgbClr val="F06B20">
              <a:alpha val="5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154680" y="6547104"/>
            <a:ext cx="1069848" cy="32004"/>
          </a:xfrm>
          <a:prstGeom prst="rect">
            <a:avLst/>
          </a:prstGeom>
          <a:solidFill>
            <a:srgbClr val="F27420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206240" y="6547104"/>
            <a:ext cx="1069848" cy="32004"/>
          </a:xfrm>
          <a:prstGeom prst="rect">
            <a:avLst/>
          </a:prstGeom>
          <a:solidFill>
            <a:srgbClr val="F58023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257800" y="6547104"/>
            <a:ext cx="1069848" cy="32004"/>
          </a:xfrm>
          <a:prstGeom prst="rect">
            <a:avLst/>
          </a:prstGeom>
          <a:solidFill>
            <a:srgbClr val="F78F2B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309360" y="6547104"/>
            <a:ext cx="1069848" cy="32004"/>
          </a:xfrm>
          <a:prstGeom prst="rect">
            <a:avLst/>
          </a:prstGeom>
          <a:solidFill>
            <a:srgbClr val="F99E34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360920" y="6547104"/>
            <a:ext cx="1069848" cy="32004"/>
          </a:xfrm>
          <a:prstGeom prst="rect">
            <a:avLst/>
          </a:prstGeom>
          <a:solidFill>
            <a:srgbClr val="FBAD3C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412480" y="6547104"/>
            <a:ext cx="1069848" cy="32004"/>
          </a:xfrm>
          <a:prstGeom prst="rect">
            <a:avLst/>
          </a:prstGeom>
          <a:solidFill>
            <a:srgbClr val="FDBD45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464040" y="6547104"/>
            <a:ext cx="1069848" cy="32004"/>
          </a:xfrm>
          <a:prstGeom prst="rect">
            <a:avLst/>
          </a:prstGeom>
          <a:solidFill>
            <a:srgbClr val="FFCC4D">
              <a:alpha val="9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744200" y="6446520"/>
            <a:ext cx="374904" cy="256032"/>
          </a:xfrm>
          <a:prstGeom prst="rect">
            <a:avLst/>
          </a:prstGeom>
          <a:solidFill>
            <a:srgbClr val="F376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109960" y="6446520"/>
            <a:ext cx="374904" cy="256032"/>
          </a:xfrm>
          <a:prstGeom prst="rect">
            <a:avLst/>
          </a:prstGeom>
          <a:solidFill>
            <a:srgbClr val="F7912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475720" y="6446520"/>
            <a:ext cx="374904" cy="256032"/>
          </a:xfrm>
          <a:prstGeom prst="rect">
            <a:avLst/>
          </a:prstGeom>
          <a:solidFill>
            <a:srgbClr val="FBA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1841480" y="6446520"/>
            <a:ext cx="374904" cy="256032"/>
          </a:xfrm>
          <a:prstGeom prst="rect">
            <a:avLst/>
          </a:prstGeom>
          <a:solidFill>
            <a:srgbClr val="FFCC4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63040" cy="8729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5303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20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</a:t>
            </a:r>
            <a:r>
              <a:rPr lang="en-US" sz="3000" b="1" kern="0" spc="-20" dirty="0">
                <a:solidFill>
                  <a:srgbClr val="E94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A5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B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C5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D5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E6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F6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0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16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27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37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58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68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78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8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99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AA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AA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BB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CB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DB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EC5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85800" y="132588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 datos dispersos a conocimiento que innova" — Cliente con el dolor: CDE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85800" y="1691640"/>
            <a:ext cx="6492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CDE no cuenta con una forma integrada y confiable de reunir, conectar y conservar lo que sabe de los emprendedores.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85800" y="315468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DEFE2"/>
          </a:solidFill>
          <a:ln w="12700">
            <a:solidFill>
              <a:srgbClr val="FDEF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960120" y="3456432"/>
            <a:ext cx="310896" cy="310896"/>
          </a:xfrm>
          <a:prstGeom prst="ellipse">
            <a:avLst/>
          </a:prstGeom>
          <a:solidFill>
            <a:srgbClr val="E848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1417320" y="328269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Caracterizar a los negocios es difícil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417320" y="357530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lugar donde consolidarlos, el CDE no puede ver el panorama del tejido empresarial de Santander.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85800" y="420624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DEFE2"/>
          </a:solidFill>
          <a:ln w="12700">
            <a:solidFill>
              <a:srgbClr val="FDEF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960120" y="4507992"/>
            <a:ext cx="310896" cy="310896"/>
          </a:xfrm>
          <a:prstGeom prst="ellipse">
            <a:avLst/>
          </a:prstGeom>
          <a:solidFill>
            <a:srgbClr val="E848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1417320" y="43342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seguimiento a los planes de acción se pierde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1417320" y="462686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trazabilidad de qué se acordó, qué se ejecutó y qué cambió en la empresa.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85800" y="5257800"/>
            <a:ext cx="6492240" cy="914400"/>
          </a:xfrm>
          <a:prstGeom prst="roundRect">
            <a:avLst>
              <a:gd name="adj" fmla="val 8000"/>
            </a:avLst>
          </a:prstGeom>
          <a:solidFill>
            <a:srgbClr val="FDEFE2"/>
          </a:solidFill>
          <a:ln w="12700">
            <a:solidFill>
              <a:srgbClr val="FDEF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6"/>
          <p:cNvSpPr/>
          <p:nvPr/>
        </p:nvSpPr>
        <p:spPr>
          <a:xfrm>
            <a:off x="960120" y="5559552"/>
            <a:ext cx="310896" cy="310896"/>
          </a:xfrm>
          <a:prstGeom prst="ellipse">
            <a:avLst/>
          </a:prstGeom>
          <a:solidFill>
            <a:srgbClr val="E848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1417320" y="5385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manual y operativo desgasta al equipo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1417320" y="567842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trabajo operativo consume horas que podrían dedicarse a acompañar a los emprendedores.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543800" y="1325880"/>
            <a:ext cx="3959352" cy="4937760"/>
          </a:xfrm>
          <a:prstGeom prst="roundRect">
            <a:avLst>
              <a:gd name="adj" fmla="val 2309"/>
            </a:avLst>
          </a:prstGeom>
          <a:solidFill>
            <a:srgbClr val="1626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7863840" y="1600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6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el CDE necesita lograr</a:t>
            </a:r>
            <a:r>
              <a:rPr lang="en-US" sz="1400" b="1" dirty="0">
                <a:solidFill>
                  <a:srgbClr val="F27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27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37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47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4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583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68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68C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79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89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89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99E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9A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AA7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BA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BB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CB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DB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DB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EC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EC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400" b="1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7863840" y="196596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gestión de la información integrado, intuitivo e interactivo.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7863840" y="3017520"/>
            <a:ext cx="333756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3"/>
          <p:cNvSpPr/>
          <p:nvPr/>
        </p:nvSpPr>
        <p:spPr>
          <a:xfrm>
            <a:off x="8028432" y="301752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D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seguimiento a los proyectos de aula y a los planes de acción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863840" y="3776472"/>
            <a:ext cx="333756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5"/>
          <p:cNvSpPr/>
          <p:nvPr/>
        </p:nvSpPr>
        <p:spPr>
          <a:xfrm>
            <a:off x="8028432" y="37764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D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las solicitudes de citas, con recordatorios oportunos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863840" y="4535424"/>
            <a:ext cx="333756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7"/>
          <p:cNvSpPr/>
          <p:nvPr/>
        </p:nvSpPr>
        <p:spPr>
          <a:xfrm>
            <a:off x="8028432" y="453542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D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Promover capacitaciones y eventos, y gestionar las inscripciones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863840" y="5294376"/>
            <a:ext cx="3337560" cy="621792"/>
          </a:xfrm>
          <a:prstGeom prst="roundRect">
            <a:avLst>
              <a:gd name="adj" fmla="val 10294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39"/>
          <p:cNvSpPr/>
          <p:nvPr/>
        </p:nvSpPr>
        <p:spPr>
          <a:xfrm>
            <a:off x="8028432" y="529437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DD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Ofrecer un módulo de formación por recompensas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069848" cy="32004"/>
          </a:xfrm>
          <a:prstGeom prst="rect">
            <a:avLst/>
          </a:prstGeom>
          <a:solidFill>
            <a:srgbClr val="EC571F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51560" y="6547104"/>
            <a:ext cx="1069848" cy="32004"/>
          </a:xfrm>
          <a:prstGeom prst="rect">
            <a:avLst/>
          </a:prstGeom>
          <a:solidFill>
            <a:srgbClr val="EE611F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103120" y="6547104"/>
            <a:ext cx="1069848" cy="32004"/>
          </a:xfrm>
          <a:prstGeom prst="rect">
            <a:avLst/>
          </a:prstGeom>
          <a:solidFill>
            <a:srgbClr val="F06B20">
              <a:alpha val="5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154680" y="6547104"/>
            <a:ext cx="1069848" cy="32004"/>
          </a:xfrm>
          <a:prstGeom prst="rect">
            <a:avLst/>
          </a:prstGeom>
          <a:solidFill>
            <a:srgbClr val="F27420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206240" y="6547104"/>
            <a:ext cx="1069848" cy="32004"/>
          </a:xfrm>
          <a:prstGeom prst="rect">
            <a:avLst/>
          </a:prstGeom>
          <a:solidFill>
            <a:srgbClr val="F58023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257800" y="6547104"/>
            <a:ext cx="1069848" cy="32004"/>
          </a:xfrm>
          <a:prstGeom prst="rect">
            <a:avLst/>
          </a:prstGeom>
          <a:solidFill>
            <a:srgbClr val="F78F2B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309360" y="6547104"/>
            <a:ext cx="1069848" cy="32004"/>
          </a:xfrm>
          <a:prstGeom prst="rect">
            <a:avLst/>
          </a:prstGeom>
          <a:solidFill>
            <a:srgbClr val="F99E34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360920" y="6547104"/>
            <a:ext cx="1069848" cy="32004"/>
          </a:xfrm>
          <a:prstGeom prst="rect">
            <a:avLst/>
          </a:prstGeom>
          <a:solidFill>
            <a:srgbClr val="FBAD3C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412480" y="6547104"/>
            <a:ext cx="1069848" cy="32004"/>
          </a:xfrm>
          <a:prstGeom prst="rect">
            <a:avLst/>
          </a:prstGeom>
          <a:solidFill>
            <a:srgbClr val="FDBD45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464040" y="6547104"/>
            <a:ext cx="1069848" cy="32004"/>
          </a:xfrm>
          <a:prstGeom prst="rect">
            <a:avLst/>
          </a:prstGeom>
          <a:solidFill>
            <a:srgbClr val="FFCC4D">
              <a:alpha val="9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744200" y="6446520"/>
            <a:ext cx="374904" cy="256032"/>
          </a:xfrm>
          <a:prstGeom prst="rect">
            <a:avLst/>
          </a:prstGeom>
          <a:solidFill>
            <a:srgbClr val="F376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109960" y="6446520"/>
            <a:ext cx="374904" cy="256032"/>
          </a:xfrm>
          <a:prstGeom prst="rect">
            <a:avLst/>
          </a:prstGeom>
          <a:solidFill>
            <a:srgbClr val="F7912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475720" y="6446520"/>
            <a:ext cx="374904" cy="256032"/>
          </a:xfrm>
          <a:prstGeom prst="rect">
            <a:avLst/>
          </a:prstGeom>
          <a:solidFill>
            <a:srgbClr val="FBA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1841480" y="6446520"/>
            <a:ext cx="374904" cy="256032"/>
          </a:xfrm>
          <a:prstGeom prst="rect">
            <a:avLst/>
          </a:prstGeom>
          <a:solidFill>
            <a:srgbClr val="FFCC4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63040" cy="8729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5303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20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 A RESOLVER</a:t>
            </a:r>
            <a:r>
              <a:rPr lang="en-US" sz="3000" b="1" kern="0" spc="-20" dirty="0">
                <a:solidFill>
                  <a:srgbClr val="EA4E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B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D5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E6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16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37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58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78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89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AA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BA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CB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EC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685800" y="1463040"/>
            <a:ext cx="10817352" cy="1691640"/>
          </a:xfrm>
          <a:prstGeom prst="roundRect">
            <a:avLst>
              <a:gd name="adj" fmla="val 4324"/>
            </a:avLst>
          </a:prstGeom>
          <a:solidFill>
            <a:srgbClr val="FDEFE2"/>
          </a:solidFill>
          <a:ln w="12700">
            <a:solidFill>
              <a:srgbClr val="FDEF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1143000" y="1463040"/>
            <a:ext cx="9921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100"/>
              </a:lnSpc>
              <a:buNone/>
            </a:pPr>
            <a:r>
              <a:rPr lang="en-US" sz="2100" b="1" dirty="0">
                <a:solidFill>
                  <a:srgbClr val="1626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y desarrollar un sistema de gestión de la información integrado, intuitivo e interactivo que le permita al CDE conocer de forma completa a cada emprendedor, liberar a su equipo del trabajo manual y operativo, y convertir esa información en conocimiento para entender el tejido empresarial de Santander y medir el impacto de la UNAB en el ecosistema.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85800" y="3520440"/>
            <a:ext cx="3401568" cy="2560320"/>
          </a:xfrm>
          <a:prstGeom prst="roundRect">
            <a:avLst>
              <a:gd name="adj" fmla="val 2857"/>
            </a:avLst>
          </a:prstGeom>
          <a:solidFill>
            <a:srgbClr val="F3F5FA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1005840" y="3794760"/>
            <a:ext cx="566928" cy="566928"/>
          </a:xfrm>
          <a:prstGeom prst="ellipse">
            <a:avLst/>
          </a:prstGeom>
          <a:solidFill>
            <a:srgbClr val="EA50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100584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1005840" y="4526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a cada empresa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05840" y="519379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forma completa y confiable, sin duplicados: datos del emprendedor, contactos y perfil.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43400" y="3520440"/>
            <a:ext cx="3401568" cy="2560320"/>
          </a:xfrm>
          <a:prstGeom prst="roundRect">
            <a:avLst>
              <a:gd name="adj" fmla="val 2857"/>
            </a:avLst>
          </a:prstGeom>
          <a:solidFill>
            <a:srgbClr val="F3F5FA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4663440" y="3794760"/>
            <a:ext cx="566928" cy="566928"/>
          </a:xfrm>
          <a:prstGeom prst="ellipse">
            <a:avLst/>
          </a:prstGeom>
          <a:solidFill>
            <a:srgbClr val="F170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466344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4663440" y="4526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el trabajo manual y operativo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663440" y="519379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gestión de información y de seguimiento, para que el equipo dedique su tiempo al acompañamiento.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001000" y="3520440"/>
            <a:ext cx="3401568" cy="2560320"/>
          </a:xfrm>
          <a:prstGeom prst="roundRect">
            <a:avLst>
              <a:gd name="adj" fmla="val 2857"/>
            </a:avLst>
          </a:prstGeom>
          <a:solidFill>
            <a:srgbClr val="F3F5FA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8321040" y="3794760"/>
            <a:ext cx="566928" cy="566928"/>
          </a:xfrm>
          <a:prstGeom prst="ellipse">
            <a:avLst/>
          </a:prstGeom>
          <a:solidFill>
            <a:srgbClr val="F89B3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832104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33" name="Text 30"/>
          <p:cNvSpPr/>
          <p:nvPr/>
        </p:nvSpPr>
        <p:spPr>
          <a:xfrm>
            <a:off x="8321040" y="45262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los datos en conocimiento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321040" y="519379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brechas por sector y tamaño de empresa, estado de formalización y resultados de las intervenciones.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069848" cy="32004"/>
          </a:xfrm>
          <a:prstGeom prst="rect">
            <a:avLst/>
          </a:prstGeom>
          <a:solidFill>
            <a:srgbClr val="EC571F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51560" y="6547104"/>
            <a:ext cx="1069848" cy="32004"/>
          </a:xfrm>
          <a:prstGeom prst="rect">
            <a:avLst/>
          </a:prstGeom>
          <a:solidFill>
            <a:srgbClr val="EE611F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103120" y="6547104"/>
            <a:ext cx="1069848" cy="32004"/>
          </a:xfrm>
          <a:prstGeom prst="rect">
            <a:avLst/>
          </a:prstGeom>
          <a:solidFill>
            <a:srgbClr val="F06B20">
              <a:alpha val="5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154680" y="6547104"/>
            <a:ext cx="1069848" cy="32004"/>
          </a:xfrm>
          <a:prstGeom prst="rect">
            <a:avLst/>
          </a:prstGeom>
          <a:solidFill>
            <a:srgbClr val="F27420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206240" y="6547104"/>
            <a:ext cx="1069848" cy="32004"/>
          </a:xfrm>
          <a:prstGeom prst="rect">
            <a:avLst/>
          </a:prstGeom>
          <a:solidFill>
            <a:srgbClr val="F58023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257800" y="6547104"/>
            <a:ext cx="1069848" cy="32004"/>
          </a:xfrm>
          <a:prstGeom prst="rect">
            <a:avLst/>
          </a:prstGeom>
          <a:solidFill>
            <a:srgbClr val="F78F2B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309360" y="6547104"/>
            <a:ext cx="1069848" cy="32004"/>
          </a:xfrm>
          <a:prstGeom prst="rect">
            <a:avLst/>
          </a:prstGeom>
          <a:solidFill>
            <a:srgbClr val="F99E34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360920" y="6547104"/>
            <a:ext cx="1069848" cy="32004"/>
          </a:xfrm>
          <a:prstGeom prst="rect">
            <a:avLst/>
          </a:prstGeom>
          <a:solidFill>
            <a:srgbClr val="FBAD3C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412480" y="6547104"/>
            <a:ext cx="1069848" cy="32004"/>
          </a:xfrm>
          <a:prstGeom prst="rect">
            <a:avLst/>
          </a:prstGeom>
          <a:solidFill>
            <a:srgbClr val="FDBD45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464040" y="6547104"/>
            <a:ext cx="1069848" cy="32004"/>
          </a:xfrm>
          <a:prstGeom prst="rect">
            <a:avLst/>
          </a:prstGeom>
          <a:solidFill>
            <a:srgbClr val="FFCC4D">
              <a:alpha val="9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744200" y="6446520"/>
            <a:ext cx="374904" cy="256032"/>
          </a:xfrm>
          <a:prstGeom prst="rect">
            <a:avLst/>
          </a:prstGeom>
          <a:solidFill>
            <a:srgbClr val="F376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109960" y="6446520"/>
            <a:ext cx="374904" cy="256032"/>
          </a:xfrm>
          <a:prstGeom prst="rect">
            <a:avLst/>
          </a:prstGeom>
          <a:solidFill>
            <a:srgbClr val="F7912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475720" y="6446520"/>
            <a:ext cx="374904" cy="256032"/>
          </a:xfrm>
          <a:prstGeom prst="rect">
            <a:avLst/>
          </a:prstGeom>
          <a:solidFill>
            <a:srgbClr val="FBA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1841480" y="6446520"/>
            <a:ext cx="374904" cy="256032"/>
          </a:xfrm>
          <a:prstGeom prst="rect">
            <a:avLst/>
          </a:prstGeom>
          <a:solidFill>
            <a:srgbClr val="FFCC4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63040" cy="8729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5303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kern="0" spc="-20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</a:t>
            </a:r>
            <a:r>
              <a:rPr lang="en-US" sz="2900" b="1" kern="0" spc="-20" dirty="0">
                <a:solidFill>
                  <a:srgbClr val="E94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2900" b="1" kern="0" spc="-20" dirty="0">
                <a:solidFill>
                  <a:srgbClr val="EA4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</a:t>
            </a:r>
            <a:r>
              <a:rPr lang="en-US" sz="2900" b="1" kern="0" spc="-20" dirty="0">
                <a:solidFill>
                  <a:srgbClr val="EA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2900" b="1" kern="0" spc="-20" dirty="0">
                <a:solidFill>
                  <a:srgbClr val="EB5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2900" b="1" kern="0" spc="-20" dirty="0">
                <a:solidFill>
                  <a:srgbClr val="EC5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kern="0" spc="-20" dirty="0">
                <a:solidFill>
                  <a:srgbClr val="ED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900" b="1" kern="0" spc="-20" dirty="0">
                <a:solidFill>
                  <a:srgbClr val="EE6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900" b="1" kern="0" spc="-20" dirty="0">
                <a:solidFill>
                  <a:srgbClr val="EE6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kern="0" spc="-20" dirty="0">
                <a:solidFill>
                  <a:srgbClr val="EF6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2900" b="1" kern="0" spc="-20" dirty="0">
                <a:solidFill>
                  <a:srgbClr val="F0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2900" b="1" kern="0" spc="-20" dirty="0">
                <a:solidFill>
                  <a:srgbClr val="F16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900" b="1" kern="0" spc="-20" dirty="0">
                <a:solidFill>
                  <a:srgbClr val="F27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2900" b="1" kern="0" spc="-20" dirty="0">
                <a:solidFill>
                  <a:srgbClr val="F27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2900" b="1" kern="0" spc="-20" dirty="0">
                <a:solidFill>
                  <a:srgbClr val="F3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2900" b="1" kern="0" spc="-2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r>
              <a:rPr lang="en-US" sz="2900" b="1" kern="0" spc="-20" dirty="0">
                <a:solidFill>
                  <a:srgbClr val="F58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2900" b="1" kern="0" spc="-20" dirty="0">
                <a:solidFill>
                  <a:srgbClr val="F58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2900" b="1" kern="0" spc="-20" dirty="0">
                <a:solidFill>
                  <a:srgbClr val="F68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kern="0" spc="-20" dirty="0">
                <a:solidFill>
                  <a:srgbClr val="F79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2900" b="1" kern="0" spc="-20" dirty="0">
                <a:solidFill>
                  <a:srgbClr val="F8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2900" b="1" kern="0" spc="-20" dirty="0">
                <a:solidFill>
                  <a:srgbClr val="F89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900" b="1" kern="0" spc="-20" dirty="0">
                <a:solidFill>
                  <a:srgbClr val="F9A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900" b="1" kern="0" spc="-20" dirty="0">
                <a:solidFill>
                  <a:srgbClr val="FAA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2900" b="1" kern="0" spc="-20" dirty="0">
                <a:solidFill>
                  <a:srgbClr val="FBA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r>
              <a:rPr lang="en-US" sz="2900" b="1" kern="0" spc="-20" dirty="0">
                <a:solidFill>
                  <a:srgbClr val="FBB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2900" b="1" kern="0" spc="-20" dirty="0">
                <a:solidFill>
                  <a:srgbClr val="FCB6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2900" b="1" kern="0" spc="-20" dirty="0">
                <a:solidFill>
                  <a:srgbClr val="FDB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2900" b="1" kern="0" spc="-20" dirty="0">
                <a:solidFill>
                  <a:srgbClr val="FEC1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2900" b="1" kern="0" spc="-20" dirty="0">
                <a:solidFill>
                  <a:srgbClr val="FEC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r>
              <a:rPr lang="en-US" sz="2900" b="1" kern="0" spc="-20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900" dirty="0"/>
          </a:p>
        </p:txBody>
      </p:sp>
      <p:sp>
        <p:nvSpPr>
          <p:cNvPr id="18" name="Shape 15"/>
          <p:cNvSpPr/>
          <p:nvPr/>
        </p:nvSpPr>
        <p:spPr>
          <a:xfrm>
            <a:off x="685800" y="1572768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3F5FA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941832" y="1810512"/>
            <a:ext cx="502920" cy="502920"/>
          </a:xfrm>
          <a:prstGeom prst="ellipse">
            <a:avLst/>
          </a:prstGeom>
          <a:solidFill>
            <a:srgbClr val="EA50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94183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41832" y="2423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41832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Construye la herramienta (desarrollo de producto, programación, software).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474720" y="1572768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3F5FA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3730752" y="1810512"/>
            <a:ext cx="502920" cy="502920"/>
          </a:xfrm>
          <a:prstGeom prst="ellipse">
            <a:avLst/>
          </a:prstGeom>
          <a:solidFill>
            <a:srgbClr val="EF65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373075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730752" y="2423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3730752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el modelo, cómo la solución genera valor y se sostiene en el tiempo.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63640" y="1572768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3F5FA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6"/>
          <p:cNvSpPr/>
          <p:nvPr/>
        </p:nvSpPr>
        <p:spPr>
          <a:xfrm>
            <a:off x="6519672" y="1810512"/>
            <a:ext cx="502920" cy="502920"/>
          </a:xfrm>
          <a:prstGeom prst="ellipse">
            <a:avLst/>
          </a:prstGeom>
          <a:solidFill>
            <a:srgbClr val="F47A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651967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19672" y="2423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y diseño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519672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la experiencia y la pertinencia de la solución frente al problema.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9052560" y="1572768"/>
            <a:ext cx="2587752" cy="2514600"/>
          </a:xfrm>
          <a:prstGeom prst="roundRect">
            <a:avLst>
              <a:gd name="adj" fmla="val 2909"/>
            </a:avLst>
          </a:prstGeom>
          <a:solidFill>
            <a:srgbClr val="F3F5FA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Shape 31"/>
          <p:cNvSpPr/>
          <p:nvPr/>
        </p:nvSpPr>
        <p:spPr>
          <a:xfrm>
            <a:off x="9308592" y="1810512"/>
            <a:ext cx="502920" cy="502920"/>
          </a:xfrm>
          <a:prstGeom prst="ellipse">
            <a:avLst/>
          </a:prstGeom>
          <a:solidFill>
            <a:srgbClr val="F89B3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2"/>
          <p:cNvSpPr/>
          <p:nvPr/>
        </p:nvSpPr>
        <p:spPr>
          <a:xfrm>
            <a:off x="9308592" y="18105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9308592" y="2423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comunicación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9308592" y="297180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Posicionamiento, diferenciación y presentación del pitch.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2478024" y="4306824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1626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6"/>
          <p:cNvSpPr/>
          <p:nvPr/>
        </p:nvSpPr>
        <p:spPr>
          <a:xfrm>
            <a:off x="2752344" y="4462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6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2500" b="1" dirty="0">
                <a:solidFill>
                  <a:srgbClr val="F47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00" b="1" dirty="0">
                <a:solidFill>
                  <a:srgbClr val="F89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2500" b="1" dirty="0">
                <a:solidFill>
                  <a:srgbClr val="FBB2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00" b="1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00" dirty="0"/>
          </a:p>
        </p:txBody>
      </p:sp>
      <p:sp>
        <p:nvSpPr>
          <p:cNvPr id="40" name="Text 37"/>
          <p:cNvSpPr/>
          <p:nvPr/>
        </p:nvSpPr>
        <p:spPr>
          <a:xfrm>
            <a:off x="2752344" y="4919472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por equipo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6062472" y="4325112"/>
            <a:ext cx="3401568" cy="1417320"/>
          </a:xfrm>
          <a:prstGeom prst="roundRect">
            <a:avLst>
              <a:gd name="adj" fmla="val 5806"/>
            </a:avLst>
          </a:prstGeom>
          <a:solidFill>
            <a:srgbClr val="1626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2"/>
          <p:cNvSpPr/>
          <p:nvPr/>
        </p:nvSpPr>
        <p:spPr>
          <a:xfrm>
            <a:off x="6336792" y="44805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06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en-US" sz="2500" b="1" dirty="0">
                <a:solidFill>
                  <a:srgbClr val="F37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2500" b="1" dirty="0">
                <a:solidFill>
                  <a:srgbClr val="F58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2500" b="1" dirty="0">
                <a:solidFill>
                  <a:srgbClr val="F89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500" b="1" dirty="0">
                <a:solidFill>
                  <a:srgbClr val="FAA9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2500" b="1" dirty="0">
                <a:solidFill>
                  <a:srgbClr val="FDB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2500" b="1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500" dirty="0"/>
          </a:p>
        </p:txBody>
      </p:sp>
      <p:sp>
        <p:nvSpPr>
          <p:cNvPr id="46" name="Text 43"/>
          <p:cNvSpPr/>
          <p:nvPr/>
        </p:nvSpPr>
        <p:spPr>
          <a:xfrm>
            <a:off x="6336792" y="493776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evaluación: funcionalidad (60), componente innovador y diferenciador (15), modelo de negocio y sostenibilidad (15), equipo (10)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685800" y="5906008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todos los integrantes deben ser estudiantes </a:t>
            </a:r>
            <a:r>
              <a:rPr lang="en-US" sz="1150" i="1" dirty="0" err="1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r>
              <a:rPr lang="en-US" sz="1150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UNAB. Máximo 5 equipos participantes en esta categoría; los cupos se asignan por orden de registro. Cada equipo debe llevar sus equipos de cómputo.</a:t>
            </a:r>
          </a:p>
          <a:p>
            <a:pPr marL="0" indent="0">
              <a:buNone/>
            </a:pPr>
            <a:r>
              <a:rPr lang="en-US" sz="1150" b="1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 err="1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 err="1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 err="1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 err="1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 err="1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 err="1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 err="1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i="1" dirty="0" err="1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069848" cy="32004"/>
          </a:xfrm>
          <a:prstGeom prst="rect">
            <a:avLst/>
          </a:prstGeom>
          <a:solidFill>
            <a:srgbClr val="EC571F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51560" y="6547104"/>
            <a:ext cx="1069848" cy="32004"/>
          </a:xfrm>
          <a:prstGeom prst="rect">
            <a:avLst/>
          </a:prstGeom>
          <a:solidFill>
            <a:srgbClr val="EE611F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103120" y="6547104"/>
            <a:ext cx="1069848" cy="32004"/>
          </a:xfrm>
          <a:prstGeom prst="rect">
            <a:avLst/>
          </a:prstGeom>
          <a:solidFill>
            <a:srgbClr val="F06B20">
              <a:alpha val="5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154680" y="6547104"/>
            <a:ext cx="1069848" cy="32004"/>
          </a:xfrm>
          <a:prstGeom prst="rect">
            <a:avLst/>
          </a:prstGeom>
          <a:solidFill>
            <a:srgbClr val="F27420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206240" y="6547104"/>
            <a:ext cx="1069848" cy="32004"/>
          </a:xfrm>
          <a:prstGeom prst="rect">
            <a:avLst/>
          </a:prstGeom>
          <a:solidFill>
            <a:srgbClr val="F58023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257800" y="6547104"/>
            <a:ext cx="1069848" cy="32004"/>
          </a:xfrm>
          <a:prstGeom prst="rect">
            <a:avLst/>
          </a:prstGeom>
          <a:solidFill>
            <a:srgbClr val="F78F2B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309360" y="6547104"/>
            <a:ext cx="1069848" cy="32004"/>
          </a:xfrm>
          <a:prstGeom prst="rect">
            <a:avLst/>
          </a:prstGeom>
          <a:solidFill>
            <a:srgbClr val="F99E34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360920" y="6547104"/>
            <a:ext cx="1069848" cy="32004"/>
          </a:xfrm>
          <a:prstGeom prst="rect">
            <a:avLst/>
          </a:prstGeom>
          <a:solidFill>
            <a:srgbClr val="FBAD3C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412480" y="6547104"/>
            <a:ext cx="1069848" cy="32004"/>
          </a:xfrm>
          <a:prstGeom prst="rect">
            <a:avLst/>
          </a:prstGeom>
          <a:solidFill>
            <a:srgbClr val="FDBD45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464040" y="6547104"/>
            <a:ext cx="1069848" cy="32004"/>
          </a:xfrm>
          <a:prstGeom prst="rect">
            <a:avLst/>
          </a:prstGeom>
          <a:solidFill>
            <a:srgbClr val="FFCC4D">
              <a:alpha val="9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744200" y="6446520"/>
            <a:ext cx="374904" cy="256032"/>
          </a:xfrm>
          <a:prstGeom prst="rect">
            <a:avLst/>
          </a:prstGeom>
          <a:solidFill>
            <a:srgbClr val="F376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109960" y="6446520"/>
            <a:ext cx="374904" cy="256032"/>
          </a:xfrm>
          <a:prstGeom prst="rect">
            <a:avLst/>
          </a:prstGeom>
          <a:solidFill>
            <a:srgbClr val="F7912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475720" y="6446520"/>
            <a:ext cx="374904" cy="256032"/>
          </a:xfrm>
          <a:prstGeom prst="rect">
            <a:avLst/>
          </a:prstGeom>
          <a:solidFill>
            <a:srgbClr val="FBA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1841480" y="6446520"/>
            <a:ext cx="374904" cy="256032"/>
          </a:xfrm>
          <a:prstGeom prst="rect">
            <a:avLst/>
          </a:prstGeom>
          <a:solidFill>
            <a:srgbClr val="FFCC4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63040" cy="8729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5303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20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CDE EN 2026</a:t>
            </a:r>
            <a:r>
              <a:rPr lang="en-US" sz="3000" b="1" kern="0" spc="-20" dirty="0">
                <a:solidFill>
                  <a:srgbClr val="E94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A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C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D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E6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F6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06C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27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37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583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68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793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89B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AA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BA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CB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DBC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EC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685800" y="1600200"/>
            <a:ext cx="5285232" cy="2057400"/>
          </a:xfrm>
          <a:prstGeom prst="roundRect">
            <a:avLst>
              <a:gd name="adj" fmla="val 3556"/>
            </a:avLst>
          </a:prstGeom>
          <a:solidFill>
            <a:srgbClr val="FDEFE2"/>
          </a:solidFill>
          <a:ln w="12700">
            <a:solidFill>
              <a:srgbClr val="FDEF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1005840" y="1920240"/>
            <a:ext cx="420624" cy="420624"/>
          </a:xfrm>
          <a:prstGeom prst="ellipse">
            <a:avLst/>
          </a:prstGeom>
          <a:solidFill>
            <a:srgbClr val="EA50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1554480" y="1901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atendidas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54480" y="240487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497 empresas únicas atendidas (569 atenciones): 347 en el primer semestre y 172 en el segundo.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17920" y="1600200"/>
            <a:ext cx="5285232" cy="2057400"/>
          </a:xfrm>
          <a:prstGeom prst="roundRect">
            <a:avLst>
              <a:gd name="adj" fmla="val 355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6537960" y="1920240"/>
            <a:ext cx="420624" cy="420624"/>
          </a:xfrm>
          <a:prstGeom prst="ellipse">
            <a:avLst/>
          </a:prstGeom>
          <a:solidFill>
            <a:srgbClr val="EF65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7086600" y="1901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UNAB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086600" y="240487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empresas (37%) hacen parte de la comunidad UNAB: 91 de estudiantes, 77 de graduados y 17 de colaboradores.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85800" y="3886200"/>
            <a:ext cx="5285232" cy="2057400"/>
          </a:xfrm>
          <a:prstGeom prst="roundRect">
            <a:avLst>
              <a:gd name="adj" fmla="val 3556"/>
            </a:avLst>
          </a:prstGeom>
          <a:solidFill>
            <a:srgbClr val="FDEFE2"/>
          </a:solidFill>
          <a:ln w="12700">
            <a:solidFill>
              <a:srgbClr val="FDEF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4"/>
          <p:cNvSpPr/>
          <p:nvPr/>
        </p:nvSpPr>
        <p:spPr>
          <a:xfrm>
            <a:off x="1005840" y="4206240"/>
            <a:ext cx="420624" cy="420624"/>
          </a:xfrm>
          <a:prstGeom prst="ellipse">
            <a:avLst/>
          </a:prstGeom>
          <a:solidFill>
            <a:srgbClr val="F47A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1554480" y="4187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Sectores económicos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554480" y="469087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sectores representados. Alimentos (28%), Comercio (20%), Servicios (14%), Manufactura e Industrial (11%) y Turismo (7%) concentran cerca del 80%.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3886200"/>
            <a:ext cx="5285232" cy="2057400"/>
          </a:xfrm>
          <a:prstGeom prst="roundRect">
            <a:avLst>
              <a:gd name="adj" fmla="val 3556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8"/>
          <p:cNvSpPr/>
          <p:nvPr/>
        </p:nvSpPr>
        <p:spPr>
          <a:xfrm>
            <a:off x="6537960" y="4206240"/>
            <a:ext cx="420624" cy="420624"/>
          </a:xfrm>
          <a:prstGeom prst="ellipse">
            <a:avLst/>
          </a:prstGeom>
          <a:solidFill>
            <a:srgbClr val="F89B3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9"/>
          <p:cNvSpPr/>
          <p:nvPr/>
        </p:nvSpPr>
        <p:spPr>
          <a:xfrm>
            <a:off x="7086600" y="4187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innovación e investigación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086600" y="4690872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CDE se proyecta como un centro de innovación e investigación que entiende mejor al tejido empresarial y demuestra el impacto de la UNAB en su territorio.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069848" cy="32004"/>
          </a:xfrm>
          <a:prstGeom prst="rect">
            <a:avLst/>
          </a:prstGeom>
          <a:solidFill>
            <a:srgbClr val="EC571F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51560" y="6547104"/>
            <a:ext cx="1069848" cy="32004"/>
          </a:xfrm>
          <a:prstGeom prst="rect">
            <a:avLst/>
          </a:prstGeom>
          <a:solidFill>
            <a:srgbClr val="EE611F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103120" y="6547104"/>
            <a:ext cx="1069848" cy="32004"/>
          </a:xfrm>
          <a:prstGeom prst="rect">
            <a:avLst/>
          </a:prstGeom>
          <a:solidFill>
            <a:srgbClr val="F06B20">
              <a:alpha val="5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154680" y="6547104"/>
            <a:ext cx="1069848" cy="32004"/>
          </a:xfrm>
          <a:prstGeom prst="rect">
            <a:avLst/>
          </a:prstGeom>
          <a:solidFill>
            <a:srgbClr val="F27420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206240" y="6547104"/>
            <a:ext cx="1069848" cy="32004"/>
          </a:xfrm>
          <a:prstGeom prst="rect">
            <a:avLst/>
          </a:prstGeom>
          <a:solidFill>
            <a:srgbClr val="F58023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257800" y="6547104"/>
            <a:ext cx="1069848" cy="32004"/>
          </a:xfrm>
          <a:prstGeom prst="rect">
            <a:avLst/>
          </a:prstGeom>
          <a:solidFill>
            <a:srgbClr val="F78F2B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309360" y="6547104"/>
            <a:ext cx="1069848" cy="32004"/>
          </a:xfrm>
          <a:prstGeom prst="rect">
            <a:avLst/>
          </a:prstGeom>
          <a:solidFill>
            <a:srgbClr val="F99E34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360920" y="6547104"/>
            <a:ext cx="1069848" cy="32004"/>
          </a:xfrm>
          <a:prstGeom prst="rect">
            <a:avLst/>
          </a:prstGeom>
          <a:solidFill>
            <a:srgbClr val="FBAD3C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412480" y="6547104"/>
            <a:ext cx="1069848" cy="32004"/>
          </a:xfrm>
          <a:prstGeom prst="rect">
            <a:avLst/>
          </a:prstGeom>
          <a:solidFill>
            <a:srgbClr val="FDBD45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464040" y="6547104"/>
            <a:ext cx="1069848" cy="32004"/>
          </a:xfrm>
          <a:prstGeom prst="rect">
            <a:avLst/>
          </a:prstGeom>
          <a:solidFill>
            <a:srgbClr val="FFCC4D">
              <a:alpha val="9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744200" y="6446520"/>
            <a:ext cx="374904" cy="256032"/>
          </a:xfrm>
          <a:prstGeom prst="rect">
            <a:avLst/>
          </a:prstGeom>
          <a:solidFill>
            <a:srgbClr val="F376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109960" y="6446520"/>
            <a:ext cx="374904" cy="256032"/>
          </a:xfrm>
          <a:prstGeom prst="rect">
            <a:avLst/>
          </a:prstGeom>
          <a:solidFill>
            <a:srgbClr val="F7912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475720" y="6446520"/>
            <a:ext cx="374904" cy="256032"/>
          </a:xfrm>
          <a:prstGeom prst="rect">
            <a:avLst/>
          </a:prstGeom>
          <a:solidFill>
            <a:srgbClr val="FBA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1841480" y="6446520"/>
            <a:ext cx="374904" cy="256032"/>
          </a:xfrm>
          <a:prstGeom prst="rect">
            <a:avLst/>
          </a:prstGeom>
          <a:solidFill>
            <a:srgbClr val="FFCC4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63040" cy="8729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5303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20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EVALUACIÓN Y PUNTAJE</a:t>
            </a:r>
            <a:r>
              <a:rPr lang="en-US" sz="3000" b="1" kern="0" spc="-20" dirty="0">
                <a:solidFill>
                  <a:srgbClr val="E94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A5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B5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C5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D5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E6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F6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06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16D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27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37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47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4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585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68B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792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89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99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AA5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BAC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BB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C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DB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EC6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85800" y="12984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propuestas serán evaluadas de forma integral · 100 puntos</a:t>
            </a:r>
            <a:endParaRPr lang="en-US" sz="135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1800000"/>
          <a:ext cx="10817352" cy="399999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900000"/>
                <a:gridCol w="1300000"/>
                <a:gridCol w="6617352"/>
              </a:tblGrid>
              <a:tr h="666666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marL="91440" marR="91440" marT="36000" marB="36000" anchor="ctr">
                    <a:solidFill>
                      <a:srgbClr val="1626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Puntos</a:t>
                      </a:r>
                    </a:p>
                  </a:txBody>
                  <a:tcPr marL="91440" marR="91440" marT="36000" marB="36000" anchor="ctr">
                    <a:solidFill>
                      <a:srgbClr val="1626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¿Qué se evalúa?</a:t>
                      </a:r>
                    </a:p>
                  </a:txBody>
                  <a:tcPr marL="91440" marR="91440" marT="36000" marB="36000" anchor="ctr">
                    <a:solidFill>
                      <a:srgbClr val="16265C"/>
                    </a:solidFill>
                  </a:tcPr>
                </a:tc>
              </a:tr>
              <a:tr h="66666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A57"/>
                          </a:solidFill>
                          <a:latin typeface="Calibri"/>
                        </a:rPr>
                        <a:t>Funcionalidad de la herramienta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A57"/>
                          </a:solidFill>
                          <a:latin typeface="Calibri"/>
                        </a:rPr>
                        <a:t>60 puntos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A57"/>
                          </a:solidFill>
                          <a:latin typeface="Calibri"/>
                        </a:rPr>
                        <a:t>Qué tan funcional es la solución desarrollada, su capacidad para responder al problema planteado, la facilidad de uso, la coherencia, el nivel de desarrollo alcanzado, la automatización del trabajo manual y operativo del CDE y el cumplimiento de las características de calidad ISO/IEC 25010. Evaluado por los tres jurados técnicos.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</a:tr>
              <a:tr h="66666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A57"/>
                          </a:solidFill>
                          <a:latin typeface="Calibri"/>
                        </a:rPr>
                        <a:t>Componente innovador y diferenciador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A57"/>
                          </a:solidFill>
                          <a:latin typeface="Calibri"/>
                        </a:rPr>
                        <a:t>15 puntos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A57"/>
                          </a:solidFill>
                          <a:latin typeface="Calibri"/>
                        </a:rPr>
                        <a:t>Qué hace diferente la propuesta frente a otras alternativas y cómo lograría posicionarse en el mercado.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</a:tr>
              <a:tr h="66666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A57"/>
                          </a:solidFill>
                          <a:latin typeface="Calibri"/>
                        </a:rPr>
                        <a:t>Modelo de negocio y sostenibilidad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A57"/>
                          </a:solidFill>
                          <a:latin typeface="Calibri"/>
                        </a:rPr>
                        <a:t>15 puntos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A57"/>
                          </a:solidFill>
                          <a:latin typeface="Calibri"/>
                        </a:rPr>
                        <a:t>Qué tan replicable, escalable y vendible es la herramienta, y capacidad del equipo para demostrar cómo genera valor y puede mantenerse en el tiempo dentro de la Universidad y en el mercado. Evaluado por los dos jurados de negocio.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</a:tr>
              <a:tr h="66666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A57"/>
                          </a:solidFill>
                          <a:latin typeface="Calibri"/>
                        </a:rPr>
                        <a:t>Equipo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A57"/>
                          </a:solidFill>
                          <a:latin typeface="Calibri"/>
                        </a:rPr>
                        <a:t>10 puntos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A57"/>
                          </a:solidFill>
                          <a:latin typeface="Calibri"/>
                        </a:rPr>
                        <a:t>Composición del equipo, complementariedad de conocimientos, interdisciplinariedad, participación de sus integrantes y capacidad para ejecutar la propuesta.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</a:tr>
              <a:tr h="666666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E2A5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E2A57"/>
                          </a:solidFill>
                          <a:latin typeface="Calibri"/>
                        </a:rPr>
                        <a:t>100 puntos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E2A57"/>
                          </a:solidFill>
                          <a:latin typeface="Calibri"/>
                        </a:rPr>
                        <a:t>Suma de los puntos de los cuatro criterios (máximo 100 puntos).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069848" cy="32004"/>
          </a:xfrm>
          <a:prstGeom prst="rect">
            <a:avLst/>
          </a:prstGeom>
          <a:solidFill>
            <a:srgbClr val="EC571F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51560" y="6547104"/>
            <a:ext cx="1069848" cy="32004"/>
          </a:xfrm>
          <a:prstGeom prst="rect">
            <a:avLst/>
          </a:prstGeom>
          <a:solidFill>
            <a:srgbClr val="EE611F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103120" y="6547104"/>
            <a:ext cx="1069848" cy="32004"/>
          </a:xfrm>
          <a:prstGeom prst="rect">
            <a:avLst/>
          </a:prstGeom>
          <a:solidFill>
            <a:srgbClr val="F06B20">
              <a:alpha val="5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154680" y="6547104"/>
            <a:ext cx="1069848" cy="32004"/>
          </a:xfrm>
          <a:prstGeom prst="rect">
            <a:avLst/>
          </a:prstGeom>
          <a:solidFill>
            <a:srgbClr val="F27420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206240" y="6547104"/>
            <a:ext cx="1069848" cy="32004"/>
          </a:xfrm>
          <a:prstGeom prst="rect">
            <a:avLst/>
          </a:prstGeom>
          <a:solidFill>
            <a:srgbClr val="F58023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257800" y="6547104"/>
            <a:ext cx="1069848" cy="32004"/>
          </a:xfrm>
          <a:prstGeom prst="rect">
            <a:avLst/>
          </a:prstGeom>
          <a:solidFill>
            <a:srgbClr val="F78F2B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309360" y="6547104"/>
            <a:ext cx="1069848" cy="32004"/>
          </a:xfrm>
          <a:prstGeom prst="rect">
            <a:avLst/>
          </a:prstGeom>
          <a:solidFill>
            <a:srgbClr val="F99E34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360920" y="6547104"/>
            <a:ext cx="1069848" cy="32004"/>
          </a:xfrm>
          <a:prstGeom prst="rect">
            <a:avLst/>
          </a:prstGeom>
          <a:solidFill>
            <a:srgbClr val="FBAD3C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412480" y="6547104"/>
            <a:ext cx="1069848" cy="32004"/>
          </a:xfrm>
          <a:prstGeom prst="rect">
            <a:avLst/>
          </a:prstGeom>
          <a:solidFill>
            <a:srgbClr val="FDBD45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464040" y="6547104"/>
            <a:ext cx="1069848" cy="32004"/>
          </a:xfrm>
          <a:prstGeom prst="rect">
            <a:avLst/>
          </a:prstGeom>
          <a:solidFill>
            <a:srgbClr val="FFCC4D">
              <a:alpha val="9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744200" y="6446520"/>
            <a:ext cx="374904" cy="256032"/>
          </a:xfrm>
          <a:prstGeom prst="rect">
            <a:avLst/>
          </a:prstGeom>
          <a:solidFill>
            <a:srgbClr val="F376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109960" y="6446520"/>
            <a:ext cx="374904" cy="256032"/>
          </a:xfrm>
          <a:prstGeom prst="rect">
            <a:avLst/>
          </a:prstGeom>
          <a:solidFill>
            <a:srgbClr val="F7912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475720" y="6446520"/>
            <a:ext cx="374904" cy="256032"/>
          </a:xfrm>
          <a:prstGeom prst="rect">
            <a:avLst/>
          </a:prstGeom>
          <a:solidFill>
            <a:srgbClr val="FBA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1841480" y="6446520"/>
            <a:ext cx="374904" cy="256032"/>
          </a:xfrm>
          <a:prstGeom prst="rect">
            <a:avLst/>
          </a:prstGeom>
          <a:solidFill>
            <a:srgbClr val="FFCC4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63040" cy="8729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5303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20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PREMIOS</a:t>
            </a:r>
            <a:r>
              <a:rPr lang="en-US" sz="3000" b="1" kern="0" spc="-20" dirty="0">
                <a:solidFill>
                  <a:srgbClr val="E94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B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C5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D5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E6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06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16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27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3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5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68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790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899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9A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AA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CB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DBB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EC3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85800" y="12984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ganador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85800" y="1737360"/>
            <a:ext cx="4937760" cy="3566160"/>
          </a:xfrm>
          <a:prstGeom prst="roundRect">
            <a:avLst>
              <a:gd name="adj" fmla="val 2564"/>
            </a:avLst>
          </a:prstGeom>
          <a:solidFill>
            <a:srgbClr val="1626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1097280" y="20574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F6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7200" b="1" dirty="0">
                <a:solidFill>
                  <a:srgbClr val="F580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r>
              <a:rPr lang="en-US" sz="7200" b="1" dirty="0">
                <a:solidFill>
                  <a:srgbClr val="FAA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7200" b="1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200" dirty="0"/>
          </a:p>
        </p:txBody>
      </p:sp>
      <p:sp>
        <p:nvSpPr>
          <p:cNvPr id="21" name="Text 18"/>
          <p:cNvSpPr/>
          <p:nvPr/>
        </p:nvSpPr>
        <p:spPr>
          <a:xfrm>
            <a:off x="1097280" y="3291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matrícula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097280" y="384048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del 50% de la matrícula del siguiente semestre para cada integrante del equipo.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89320" y="1737360"/>
            <a:ext cx="5513832" cy="1097280"/>
          </a:xfrm>
          <a:prstGeom prst="roundRect">
            <a:avLst>
              <a:gd name="adj" fmla="val 6667"/>
            </a:avLst>
          </a:prstGeom>
          <a:solidFill>
            <a:srgbClr val="FDEFE2"/>
          </a:solidFill>
          <a:ln w="12700">
            <a:solidFill>
              <a:srgbClr val="FDEF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6309360" y="190195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final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309360" y="221284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 de presentación y 5 minutos para responder las preguntas del jurado: 10 minutos en total por equipo.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989320" y="2971800"/>
            <a:ext cx="5513832" cy="1097280"/>
          </a:xfrm>
          <a:prstGeom prst="roundRect">
            <a:avLst>
              <a:gd name="adj" fmla="val 6667"/>
            </a:avLst>
          </a:prstGeom>
          <a:solidFill>
            <a:srgbClr val="F3F5FA"/>
          </a:solidFill>
          <a:ln w="12700">
            <a:solidFill>
              <a:srgbClr val="F3F5F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6309360" y="3136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desempate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6309360" y="344728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de la herramienta, componente innovador y diferenciador, modelo de negocio y sostenibilidad, y equipo.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989320" y="4206240"/>
            <a:ext cx="5513832" cy="1097280"/>
          </a:xfrm>
          <a:prstGeom prst="roundRect">
            <a:avLst>
              <a:gd name="adj" fmla="val 6667"/>
            </a:avLst>
          </a:prstGeom>
          <a:solidFill>
            <a:srgbClr val="FDEFE2"/>
          </a:solidFill>
          <a:ln w="12700">
            <a:solidFill>
              <a:srgbClr val="FDEF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6309360" y="4370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Jurado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6309360" y="468172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(5) docentes de la UNAB: tres jurados técnicos y dos de negocio. Sus decisiones son inapelables.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85800" y="5532120"/>
            <a:ext cx="10817352" cy="566928"/>
          </a:xfrm>
          <a:prstGeom prst="roundRect">
            <a:avLst>
              <a:gd name="adj" fmla="val 12903"/>
            </a:avLst>
          </a:prstGeom>
          <a:solidFill>
            <a:srgbClr val="FFF7D6"/>
          </a:solidFill>
          <a:ln w="12700">
            <a:solidFill>
              <a:srgbClr val="FFF7D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1005840" y="553212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gana solamente la mejor herramienta. Gana la propuesta que demuestre que funciona, que el equipo puede ejecutarla y que existe una estrategia clara para generar valor y sostenerse en el tiempo.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069848" cy="32004"/>
          </a:xfrm>
          <a:prstGeom prst="rect">
            <a:avLst/>
          </a:prstGeom>
          <a:solidFill>
            <a:srgbClr val="EC571F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51560" y="6547104"/>
            <a:ext cx="1069848" cy="32004"/>
          </a:xfrm>
          <a:prstGeom prst="rect">
            <a:avLst/>
          </a:prstGeom>
          <a:solidFill>
            <a:srgbClr val="EE611F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103120" y="6547104"/>
            <a:ext cx="1069848" cy="32004"/>
          </a:xfrm>
          <a:prstGeom prst="rect">
            <a:avLst/>
          </a:prstGeom>
          <a:solidFill>
            <a:srgbClr val="F06B20">
              <a:alpha val="5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154680" y="6547104"/>
            <a:ext cx="1069848" cy="32004"/>
          </a:xfrm>
          <a:prstGeom prst="rect">
            <a:avLst/>
          </a:prstGeom>
          <a:solidFill>
            <a:srgbClr val="F27420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206240" y="6547104"/>
            <a:ext cx="1069848" cy="32004"/>
          </a:xfrm>
          <a:prstGeom prst="rect">
            <a:avLst/>
          </a:prstGeom>
          <a:solidFill>
            <a:srgbClr val="F58023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257800" y="6547104"/>
            <a:ext cx="1069848" cy="32004"/>
          </a:xfrm>
          <a:prstGeom prst="rect">
            <a:avLst/>
          </a:prstGeom>
          <a:solidFill>
            <a:srgbClr val="F78F2B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309360" y="6547104"/>
            <a:ext cx="1069848" cy="32004"/>
          </a:xfrm>
          <a:prstGeom prst="rect">
            <a:avLst/>
          </a:prstGeom>
          <a:solidFill>
            <a:srgbClr val="F99E34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360920" y="6547104"/>
            <a:ext cx="1069848" cy="32004"/>
          </a:xfrm>
          <a:prstGeom prst="rect">
            <a:avLst/>
          </a:prstGeom>
          <a:solidFill>
            <a:srgbClr val="FBAD3C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412480" y="6547104"/>
            <a:ext cx="1069848" cy="32004"/>
          </a:xfrm>
          <a:prstGeom prst="rect">
            <a:avLst/>
          </a:prstGeom>
          <a:solidFill>
            <a:srgbClr val="FDBD45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464040" y="6547104"/>
            <a:ext cx="1069848" cy="32004"/>
          </a:xfrm>
          <a:prstGeom prst="rect">
            <a:avLst/>
          </a:prstGeom>
          <a:solidFill>
            <a:srgbClr val="FFCC4D">
              <a:alpha val="9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744200" y="6446520"/>
            <a:ext cx="374904" cy="256032"/>
          </a:xfrm>
          <a:prstGeom prst="rect">
            <a:avLst/>
          </a:prstGeom>
          <a:solidFill>
            <a:srgbClr val="F376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109960" y="6446520"/>
            <a:ext cx="374904" cy="256032"/>
          </a:xfrm>
          <a:prstGeom prst="rect">
            <a:avLst/>
          </a:prstGeom>
          <a:solidFill>
            <a:srgbClr val="F7912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475720" y="6446520"/>
            <a:ext cx="374904" cy="256032"/>
          </a:xfrm>
          <a:prstGeom prst="rect">
            <a:avLst/>
          </a:prstGeom>
          <a:solidFill>
            <a:srgbClr val="FBA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1841480" y="6446520"/>
            <a:ext cx="374904" cy="256032"/>
          </a:xfrm>
          <a:prstGeom prst="rect">
            <a:avLst/>
          </a:prstGeom>
          <a:solidFill>
            <a:srgbClr val="FFCC4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63040" cy="8729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5303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20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3000" b="1" kern="0" spc="-20" dirty="0">
                <a:solidFill>
                  <a:srgbClr val="E94C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3000" b="1" kern="0" spc="-20" dirty="0">
                <a:solidFill>
                  <a:srgbClr val="EA5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</a:t>
            </a:r>
            <a:r>
              <a:rPr lang="en-US" sz="3000" b="1" kern="0" spc="-20" dirty="0">
                <a:solidFill>
                  <a:srgbClr val="EB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3000" b="1" kern="0" spc="-20" dirty="0">
                <a:solidFill>
                  <a:srgbClr val="EC5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3000" b="1" kern="0" spc="-20" dirty="0">
                <a:solidFill>
                  <a:srgbClr val="ED5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3000" b="1" kern="0" spc="-20" dirty="0">
                <a:solidFill>
                  <a:srgbClr val="EE6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r>
              <a:rPr lang="en-US" sz="3000" b="1" kern="0" spc="-20" dirty="0">
                <a:solidFill>
                  <a:srgbClr val="EF6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kern="0" spc="-20" dirty="0">
                <a:solidFill>
                  <a:srgbClr val="F0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3000" b="1" kern="0" spc="-20" dirty="0">
                <a:solidFill>
                  <a:srgbClr val="F16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</a:t>
            </a:r>
            <a:r>
              <a:rPr lang="en-US" sz="3000" b="1" kern="0" spc="-20" dirty="0">
                <a:solidFill>
                  <a:srgbClr val="F273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3000" b="1" kern="0" spc="-20" dirty="0">
                <a:solidFill>
                  <a:srgbClr val="F37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3000" b="1" kern="0" spc="-20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3000" b="1" kern="0" spc="-20" dirty="0">
                <a:solidFill>
                  <a:srgbClr val="F582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kern="0" spc="-20" dirty="0">
                <a:solidFill>
                  <a:srgbClr val="F68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r>
              <a:rPr lang="en-US" sz="3000" b="1" kern="0" spc="-20" dirty="0">
                <a:solidFill>
                  <a:srgbClr val="F78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kern="0" spc="-20" dirty="0">
                <a:solidFill>
                  <a:srgbClr val="F8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3000" b="1" kern="0" spc="-20" dirty="0">
                <a:solidFill>
                  <a:srgbClr val="F99D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3000" b="1" kern="0" spc="-20" dirty="0">
                <a:solidFill>
                  <a:srgbClr val="FAA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r>
              <a:rPr lang="en-US" sz="3000" b="1" kern="0" spc="-20" dirty="0">
                <a:solidFill>
                  <a:srgbClr val="FAA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000" b="1" kern="0" spc="-20" dirty="0">
                <a:solidFill>
                  <a:srgbClr val="FBB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r>
              <a:rPr lang="en-US" sz="3000" b="1" kern="0" spc="-20" dirty="0">
                <a:solidFill>
                  <a:srgbClr val="FCB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3000" b="1" kern="0" spc="-20" dirty="0">
                <a:solidFill>
                  <a:srgbClr val="FDB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3000" b="1" kern="0" spc="-20" dirty="0">
                <a:solidFill>
                  <a:srgbClr val="FEC5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</a:t>
            </a:r>
            <a:r>
              <a:rPr lang="en-US" sz="3000" b="1" kern="0" spc="-20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3000" dirty="0"/>
          </a:p>
        </p:txBody>
      </p:sp>
      <p:sp>
        <p:nvSpPr>
          <p:cNvPr id="18" name="Shape 15"/>
          <p:cNvSpPr/>
          <p:nvPr/>
        </p:nvSpPr>
        <p:spPr>
          <a:xfrm>
            <a:off x="685800" y="1600200"/>
            <a:ext cx="3401568" cy="2743200"/>
          </a:xfrm>
          <a:prstGeom prst="roundRect">
            <a:avLst>
              <a:gd name="adj" fmla="val 2667"/>
            </a:avLst>
          </a:prstGeom>
          <a:solidFill>
            <a:srgbClr val="FDEFE2"/>
          </a:solidFill>
          <a:ln w="12700">
            <a:solidFill>
              <a:srgbClr val="FDEFE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1005840" y="1810512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r>
              <a:rPr lang="en-US" sz="6000" b="1" dirty="0">
                <a:solidFill>
                  <a:srgbClr val="F37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–29</a:t>
            </a:r>
            <a:endParaRPr lang="en-US" sz="6000" dirty="0"/>
          </a:p>
        </p:txBody>
      </p:sp>
      <p:sp>
        <p:nvSpPr>
          <p:cNvPr id="20" name="Text 17"/>
          <p:cNvSpPr/>
          <p:nvPr/>
        </p:nvSpPr>
        <p:spPr>
          <a:xfrm>
            <a:off x="100584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octubre de 2026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05840" y="3246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Hackatón es una sola competencia continua, no dos jornadas independientes.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89120" y="1600200"/>
            <a:ext cx="3401568" cy="2743200"/>
          </a:xfrm>
          <a:prstGeom prst="roundRect">
            <a:avLst>
              <a:gd name="adj" fmla="val 2667"/>
            </a:avLst>
          </a:prstGeom>
          <a:solidFill>
            <a:srgbClr val="F3F5FA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4709160" y="1874520"/>
            <a:ext cx="502920" cy="502920"/>
          </a:xfrm>
          <a:prstGeom prst="ellipse">
            <a:avLst/>
          </a:prstGeom>
          <a:solidFill>
            <a:srgbClr val="F47B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4709160" y="25420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de</a:t>
            </a:r>
            <a:endParaRPr lang="en-US" sz="16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Industrial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709160" y="3200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Autónoma de Bucaramanga. Modalidad: presencial.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092440" y="1600200"/>
            <a:ext cx="3410712" cy="2743200"/>
          </a:xfrm>
          <a:prstGeom prst="roundRect">
            <a:avLst>
              <a:gd name="adj" fmla="val 2667"/>
            </a:avLst>
          </a:prstGeom>
          <a:solidFill>
            <a:srgbClr val="F3F5FA"/>
          </a:solidFill>
          <a:ln w="12700">
            <a:solidFill>
              <a:srgbClr val="E3E8F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4"/>
          <p:cNvSpPr/>
          <p:nvPr/>
        </p:nvSpPr>
        <p:spPr>
          <a:xfrm>
            <a:off x="8412480" y="1874520"/>
            <a:ext cx="502920" cy="502920"/>
          </a:xfrm>
          <a:prstGeom prst="ellipse">
            <a:avLst/>
          </a:prstGeom>
          <a:solidFill>
            <a:srgbClr val="E8481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5"/>
          <p:cNvSpPr/>
          <p:nvPr/>
        </p:nvSpPr>
        <p:spPr>
          <a:xfrm>
            <a:off x="8412480" y="254203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626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Cupos y participantes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412480" y="32004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5 equipos. Mínimo 2 y máximo 4 integrantes por equipo, todos estudiantes activos de la UNAB.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85800" y="4663440"/>
            <a:ext cx="10817352" cy="1463040"/>
          </a:xfrm>
          <a:prstGeom prst="roundRect">
            <a:avLst>
              <a:gd name="adj" fmla="val 6250"/>
            </a:avLst>
          </a:prstGeom>
          <a:solidFill>
            <a:srgbClr val="1626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8"/>
          <p:cNvSpPr/>
          <p:nvPr/>
        </p:nvSpPr>
        <p:spPr>
          <a:xfrm>
            <a:off x="109728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6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Fechas y horarios</a:t>
            </a:r>
            <a:r>
              <a:rPr lang="en-US" sz="1500" b="1" dirty="0">
                <a:solidFill>
                  <a:srgbClr val="F27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37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37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47B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5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584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689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78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79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89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99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9A1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AA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AA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BA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CB4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C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DBE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EC2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EC7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1500" b="1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097280" y="5230368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D9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Inicio: 28 de octubre de 2026 a las 8:00 a. m. Cierre: 29 de octubre de 2026 a las 9:00 a. m. con el cierre del desarrollo; a continuación, la presentación final (pitch) de los equipos, la deliberación del jurado y, a las 12:00 m., el anuncio del ganador.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47104"/>
            <a:ext cx="1069848" cy="32004"/>
          </a:xfrm>
          <a:prstGeom prst="rect">
            <a:avLst/>
          </a:prstGeom>
          <a:solidFill>
            <a:srgbClr val="EC571F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1051560" y="6547104"/>
            <a:ext cx="1069848" cy="32004"/>
          </a:xfrm>
          <a:prstGeom prst="rect">
            <a:avLst/>
          </a:prstGeom>
          <a:solidFill>
            <a:srgbClr val="EE611F">
              <a:alpha val="5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2103120" y="6547104"/>
            <a:ext cx="1069848" cy="32004"/>
          </a:xfrm>
          <a:prstGeom prst="rect">
            <a:avLst/>
          </a:prstGeom>
          <a:solidFill>
            <a:srgbClr val="F06B20">
              <a:alpha val="5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3154680" y="6547104"/>
            <a:ext cx="1069848" cy="32004"/>
          </a:xfrm>
          <a:prstGeom prst="rect">
            <a:avLst/>
          </a:prstGeom>
          <a:solidFill>
            <a:srgbClr val="F27420">
              <a:alpha val="6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206240" y="6547104"/>
            <a:ext cx="1069848" cy="32004"/>
          </a:xfrm>
          <a:prstGeom prst="rect">
            <a:avLst/>
          </a:prstGeom>
          <a:solidFill>
            <a:srgbClr val="F58023">
              <a:alpha val="6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5257800" y="6547104"/>
            <a:ext cx="1069848" cy="32004"/>
          </a:xfrm>
          <a:prstGeom prst="rect">
            <a:avLst/>
          </a:prstGeom>
          <a:solidFill>
            <a:srgbClr val="F78F2B">
              <a:alpha val="7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6309360" y="6547104"/>
            <a:ext cx="1069848" cy="32004"/>
          </a:xfrm>
          <a:prstGeom prst="rect">
            <a:avLst/>
          </a:prstGeom>
          <a:solidFill>
            <a:srgbClr val="F99E34">
              <a:alpha val="7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360920" y="6547104"/>
            <a:ext cx="1069848" cy="32004"/>
          </a:xfrm>
          <a:prstGeom prst="rect">
            <a:avLst/>
          </a:prstGeom>
          <a:solidFill>
            <a:srgbClr val="FBAD3C">
              <a:alpha val="8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8412480" y="6547104"/>
            <a:ext cx="1069848" cy="32004"/>
          </a:xfrm>
          <a:prstGeom prst="rect">
            <a:avLst/>
          </a:prstGeom>
          <a:solidFill>
            <a:srgbClr val="FDBD45">
              <a:alpha val="8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9464040" y="6547104"/>
            <a:ext cx="1069848" cy="32004"/>
          </a:xfrm>
          <a:prstGeom prst="rect">
            <a:avLst/>
          </a:prstGeom>
          <a:solidFill>
            <a:srgbClr val="FFCC4D">
              <a:alpha val="90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0744200" y="6446520"/>
            <a:ext cx="374904" cy="256032"/>
          </a:xfrm>
          <a:prstGeom prst="rect">
            <a:avLst/>
          </a:prstGeom>
          <a:solidFill>
            <a:srgbClr val="F3762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11109960" y="6446520"/>
            <a:ext cx="374904" cy="256032"/>
          </a:xfrm>
          <a:prstGeom prst="rect">
            <a:avLst/>
          </a:prstGeom>
          <a:solidFill>
            <a:srgbClr val="F7912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11475720" y="6446520"/>
            <a:ext cx="374904" cy="256032"/>
          </a:xfrm>
          <a:prstGeom prst="rect">
            <a:avLst/>
          </a:prstGeom>
          <a:solidFill>
            <a:srgbClr val="FBAE3D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11841480" y="6446520"/>
            <a:ext cx="374904" cy="256032"/>
          </a:xfrm>
          <a:prstGeom prst="rect">
            <a:avLst/>
          </a:prstGeom>
          <a:solidFill>
            <a:srgbClr val="FFCC4D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37744"/>
            <a:ext cx="1463040" cy="87299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85800" y="530352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20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CRONOGRAMA</a:t>
            </a:r>
            <a:r>
              <a:rPr lang="en-US" sz="3000" b="1" kern="0" spc="-20" dirty="0">
                <a:solidFill>
                  <a:srgbClr val="EA5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C5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E6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EF6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16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37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581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78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89A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AA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CB3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DC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r>
              <a:rPr lang="en-US" sz="3000" b="1" kern="0" spc="-20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3000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85800" y="1250000"/>
          <a:ext cx="10817352" cy="510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50000"/>
                <a:gridCol w="4900000"/>
                <a:gridCol w="1650000"/>
                <a:gridCol w="2617352"/>
              </a:tblGrid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Hora</a:t>
                      </a:r>
                    </a:p>
                  </a:txBody>
                  <a:tcPr marL="91440" marR="91440" marT="36000" marB="36000" anchor="ctr">
                    <a:solidFill>
                      <a:srgbClr val="1626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Actividad</a:t>
                      </a:r>
                    </a:p>
                  </a:txBody>
                  <a:tcPr marL="91440" marR="91440" marT="36000" marB="36000" anchor="ctr">
                    <a:solidFill>
                      <a:srgbClr val="1626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Responsable</a:t>
                      </a:r>
                    </a:p>
                  </a:txBody>
                  <a:tcPr marL="91440" marR="91440" marT="36000" marB="36000" anchor="ctr">
                    <a:solidFill>
                      <a:srgbClr val="1626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Lugar</a:t>
                      </a:r>
                    </a:p>
                  </a:txBody>
                  <a:tcPr marL="91440" marR="91440" marT="36000" marB="36000" anchor="ctr">
                    <a:solidFill>
                      <a:srgbClr val="16265C"/>
                    </a:solidFill>
                  </a:tcPr>
                </a:tc>
              </a:tr>
              <a:tr h="318750">
                <a:tc gridSpan="4"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DÍA 1 · MIÉRCOLES 28 DE OCTUBRE — Conecta y Cocrea</a:t>
                      </a:r>
                    </a:p>
                  </a:txBody>
                  <a:tcPr marL="91440" marR="91440" marT="36000" marB="36000" anchor="ctr">
                    <a:solidFill>
                      <a:srgbClr val="E8481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8:00 – 8:30 a. m.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Instalación de los Equipos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CDE y participantes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8:30 – 10:00 a. m.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Reglas del juego, presentación del reto por parte del CDE (el cliente) y preguntas y respuestas con el CDE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CDE y participantes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10:00 a. m. – 12:00 m.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Desarrollo de la herramienta: cocreación y construcción de la solución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Participantes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12:00 – 2:00 p. m.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Receso · almuerzo libre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Todos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2:00 – 5:00 p. m.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Desarrollo de la herramienta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Participantes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5:00 – 5:30 p. m.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Validación 1: avance parcial de cada equipo con el CDE (5 min por equipo)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Participantes y CDE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Desarrollo continuo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Participantes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</a:tr>
              <a:tr h="318750">
                <a:tc gridSpan="4"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DÍA 2 · JUEVES 29 DE OCTUBRE — Despega</a:t>
                      </a:r>
                    </a:p>
                  </a:txBody>
                  <a:tcPr marL="91440" marR="91440" marT="36000" marB="36000" anchor="ctr">
                    <a:solidFill>
                      <a:srgbClr val="E8481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8:00 – 8:30 a. m.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Validación 2: avance final con el CDE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Participantes y CDE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8:30 – 9:00 a. m.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Desarrollo final de la herramienta y preparación del pitch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Participantes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9:00 – 9:15 a. m.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CIERRE DEL DESARROLLO: entrega final de la herramienta y del material del pitch; sorteo del orden de presentación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Participantes y CDE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9:15 – 10:30 a. m.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Pitch final: 5 min de presentación + 5 min de preguntas del jurado por equipo (máx. 5 equipos)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Participantes y jurado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10:30 a. m. – 12:00 m.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Deliberación del jurado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Jurado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Reservado para el jurado</a:t>
                      </a:r>
                    </a:p>
                  </a:txBody>
                  <a:tcPr marL="91440" marR="91440" marT="36000" marB="36000" anchor="ctr">
                    <a:solidFill>
                      <a:srgbClr val="F3F5FA"/>
                    </a:solidFill>
                  </a:tcPr>
                </a:tc>
              </a:tr>
              <a:tr h="31875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1E2A57"/>
                          </a:solidFill>
                          <a:latin typeface="Calibri"/>
                        </a:rPr>
                        <a:t>12:00 – 12:30 p. m.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Anuncio del equipo ganador, entrega del premio y cierre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CDE y jurado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1E2A57"/>
                          </a:solidFill>
                          <a:latin typeface="Calibri"/>
                        </a:rPr>
                        <a:t>Laboratorio de Ingeniería Industrial, piso 7</a:t>
                      </a:r>
                    </a:p>
                  </a:txBody>
                  <a:tcPr marL="91440" marR="91440" marT="36000" marB="36000" anchor="ctr">
                    <a:solidFill>
                      <a:srgbClr val="FDEF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794760"/>
            <a:ext cx="4480560" cy="3063240"/>
          </a:xfrm>
          <a:prstGeom prst="rtTriangle">
            <a:avLst/>
          </a:prstGeom>
          <a:solidFill>
            <a:srgbClr val="1626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75488" y="57150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Desarrollo Empresarial</a:t>
            </a:r>
            <a:endParaRPr lang="en-US" sz="11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BFC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</a:t>
            </a:r>
            <a:endParaRPr lang="en-US" sz="1150" dirty="0"/>
          </a:p>
        </p:txBody>
      </p:sp>
      <p:pic>
        <p:nvPicPr>
          <p:cNvPr id="5" name="Image 0" descr="/home/claude/logo_uv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914400"/>
            <a:ext cx="4663440" cy="27826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496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E84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900" b="1" i="1" dirty="0">
                <a:solidFill>
                  <a:srgbClr val="E94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900" b="1" i="1" dirty="0">
                <a:solidFill>
                  <a:srgbClr val="EA5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i="1" dirty="0">
                <a:solidFill>
                  <a:srgbClr val="EB5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900" b="1" i="1" dirty="0">
                <a:solidFill>
                  <a:srgbClr val="ED5B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900" b="1" i="1" dirty="0">
                <a:solidFill>
                  <a:srgbClr val="EE6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i="1" dirty="0">
                <a:solidFill>
                  <a:srgbClr val="EF6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900" b="1" i="1" dirty="0">
                <a:solidFill>
                  <a:srgbClr val="F06A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900" b="1" i="1" dirty="0">
                <a:solidFill>
                  <a:srgbClr val="F16F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r>
              <a:rPr lang="en-US" sz="1900" b="1" i="1" dirty="0">
                <a:solidFill>
                  <a:srgbClr val="F27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900" b="1" i="1" dirty="0">
                <a:solidFill>
                  <a:srgbClr val="F379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i="1" dirty="0">
                <a:solidFill>
                  <a:srgbClr val="F57F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en-US" sz="1900" b="1" i="1" dirty="0">
                <a:solidFill>
                  <a:srgbClr val="F68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900" b="1" i="1" dirty="0">
                <a:solidFill>
                  <a:srgbClr val="F78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b="1" i="1" dirty="0">
                <a:solidFill>
                  <a:srgbClr val="F896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r>
              <a:rPr lang="en-US" sz="1900" b="1" i="1" dirty="0">
                <a:solidFill>
                  <a:srgbClr val="F99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r>
              <a:rPr lang="en-US" sz="1900" b="1" i="1" dirty="0">
                <a:solidFill>
                  <a:srgbClr val="FAA5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r>
              <a:rPr lang="en-US" sz="1900" b="1" i="1" dirty="0">
                <a:solidFill>
                  <a:srgbClr val="FBA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900" b="1" i="1" dirty="0">
                <a:solidFill>
                  <a:srgbClr val="FCB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r>
              <a:rPr lang="en-US" sz="1900" b="1" i="1" dirty="0">
                <a:solidFill>
                  <a:srgbClr val="FDBD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900" b="1" i="1" dirty="0">
                <a:solidFill>
                  <a:srgbClr val="FEC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r>
              <a:rPr lang="en-US" sz="1900" b="1" i="1" dirty="0">
                <a:solidFill>
                  <a:srgbClr val="FFCC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572000" y="44348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Hackatón de la Semana de Ingeniería UNAB 2026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1E2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Desarrollo Empresarial · Universidad Autónoma de Bucaramanga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5349240"/>
            <a:ext cx="6400800" cy="566928"/>
          </a:xfrm>
          <a:prstGeom prst="roundRect">
            <a:avLst>
              <a:gd name="adj" fmla="val 50000"/>
            </a:avLst>
          </a:prstGeom>
          <a:solidFill>
            <a:srgbClr val="16265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4937760" y="53492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y 29 de octubre de 2026  ·  Laboratorio de Ingeniería Industrial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3776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@cdeunab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1452</Words>
  <Application>Microsoft Office PowerPoint</Application>
  <PresentationFormat>Panorámica</PresentationFormat>
  <Paragraphs>160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UNAB Venture Challenge - Reto Mi Tienda en Linea</dc:title>
  <dc:subject>PptxGenJS Presentation</dc:subject>
  <dc:creator>Centro de Desarrollo Empresarial - UNAB</dc:creator>
  <cp:lastModifiedBy>LEONARDO RAFAEL ARCON GOMEZ</cp:lastModifiedBy>
  <cp:revision>4</cp:revision>
  <dcterms:created xsi:type="dcterms:W3CDTF">2026-08-25T01:00:18Z</dcterms:created>
  <dcterms:modified xsi:type="dcterms:W3CDTF">2026-08-25T01:05:55Z</dcterms:modified>
</cp:coreProperties>
</file>